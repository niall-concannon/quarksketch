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7"/>
  </p:notesMasterIdLst>
  <p:handoutMasterIdLst>
    <p:handoutMasterId r:id="rId18"/>
  </p:handoutMasterIdLst>
  <p:sldIdLst>
    <p:sldId id="334" r:id="rId5"/>
    <p:sldId id="335" r:id="rId6"/>
    <p:sldId id="345" r:id="rId7"/>
    <p:sldId id="347" r:id="rId8"/>
    <p:sldId id="337" r:id="rId9"/>
    <p:sldId id="338" r:id="rId10"/>
    <p:sldId id="339" r:id="rId11"/>
    <p:sldId id="340" r:id="rId12"/>
    <p:sldId id="341" r:id="rId13"/>
    <p:sldId id="346" r:id="rId14"/>
    <p:sldId id="344" r:id="rId15"/>
    <p:sldId id="34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 varScale="1">
        <p:scale>
          <a:sx n="93" d="100"/>
          <a:sy n="93" d="100"/>
        </p:scale>
        <p:origin x="54" y="87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146769" cy="3080335"/>
          </a:xfrm>
        </p:spPr>
        <p:txBody>
          <a:bodyPr/>
          <a:lstStyle/>
          <a:p>
            <a:r>
              <a:rPr lang="ga-IE" dirty="0" err="1"/>
              <a:t>QuarcksTACK</a:t>
            </a:r>
            <a:r>
              <a:rPr lang="ga-IE" dirty="0"/>
              <a:t> OVERVIEW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5DE2B48-6143-E184-F88F-9087729AB5E8}"/>
              </a:ext>
            </a:extLst>
          </p:cNvPr>
          <p:cNvSpPr/>
          <p:nvPr/>
        </p:nvSpPr>
        <p:spPr>
          <a:xfrm>
            <a:off x="7136922" y="1742535"/>
            <a:ext cx="3959524" cy="4054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2052" name="Picture 4" descr="Quarkstack ">
            <a:extLst>
              <a:ext uri="{FF2B5EF4-FFF2-40B4-BE49-F238E27FC236}">
                <a16:creationId xmlns:a16="http://schemas.microsoft.com/office/drawing/2014/main" id="{0F93FE8A-252D-FEE2-CB66-7FF5647AE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304" y="2156604"/>
            <a:ext cx="3018877" cy="3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68A5-B175-18DE-88AC-BB6BF193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dirty="0"/>
              <a:t>WHY ARE WE HERE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08BF2-C98A-A4A2-A6D9-23775F731A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56666" y="3321924"/>
            <a:ext cx="4777950" cy="3144965"/>
          </a:xfrm>
        </p:spPr>
        <p:txBody>
          <a:bodyPr>
            <a:normAutofit/>
          </a:bodyPr>
          <a:lstStyle/>
          <a:p>
            <a:pPr algn="l"/>
            <a:r>
              <a:rPr lang="en-GB" sz="1800" dirty="0"/>
              <a:t>We’re launching an online multiplayer drawing game where players compete in creative challenges generated by AI, which also grades their artwork in real time.</a:t>
            </a:r>
            <a:endParaRPr lang="en-IE" sz="1800" dirty="0"/>
          </a:p>
        </p:txBody>
      </p:sp>
      <p:pic>
        <p:nvPicPr>
          <p:cNvPr id="1028" name="Picture 4" descr="Time &#10;Remaining . &#10;32 sec &#10;OffAn &#10;Steven &#10;XxDrawkingxX &#10;Pepzilla ">
            <a:extLst>
              <a:ext uri="{FF2B5EF4-FFF2-40B4-BE49-F238E27FC236}">
                <a16:creationId xmlns:a16="http://schemas.microsoft.com/office/drawing/2014/main" id="{5A96AE43-DD49-3037-7B1E-19AF68851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72" y="1362075"/>
            <a:ext cx="4096872" cy="3919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7222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2D7DB-B6DC-27EF-4F52-234F2FF52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10"/>
            <a:ext cx="7983110" cy="694614"/>
          </a:xfrm>
        </p:spPr>
        <p:txBody>
          <a:bodyPr/>
          <a:lstStyle/>
          <a:p>
            <a:r>
              <a:rPr lang="en-IE" sz="4000" dirty="0"/>
              <a:t>Elevator pitch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E63DE-23CF-B3EA-4B3E-8B516CC135DE}"/>
              </a:ext>
            </a:extLst>
          </p:cNvPr>
          <p:cNvSpPr txBox="1"/>
          <p:nvPr/>
        </p:nvSpPr>
        <p:spPr>
          <a:xfrm>
            <a:off x="1416497" y="1544627"/>
            <a:ext cx="1035169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solidFill>
                  <a:schemeClr val="bg1"/>
                </a:solidFill>
              </a:rPr>
              <a:t>1. Hook / Problem: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"Ever wanted a fast, fun way to test your drawing skills against friends—and strangers—online?"</a:t>
            </a:r>
          </a:p>
          <a:p>
            <a:pPr>
              <a:buNone/>
            </a:pPr>
            <a:endParaRPr lang="en-GB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GB" b="1" dirty="0">
                <a:solidFill>
                  <a:schemeClr val="bg1"/>
                </a:solidFill>
              </a:rPr>
              <a:t>2. Solution / Product: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"QuarkSketch is an online drawing showdown where players race to interpret creative prompts and outdraw their opponents.“</a:t>
            </a:r>
          </a:p>
          <a:p>
            <a:pPr>
              <a:buNone/>
            </a:pPr>
            <a:endParaRPr lang="en-GB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GB" b="1" dirty="0">
                <a:solidFill>
                  <a:schemeClr val="bg1"/>
                </a:solidFill>
              </a:rPr>
              <a:t>3. Differentiator / Why it’s special: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"AI generates fresh challenges, helps score each round, and players vote to crown the winner, making every match unpredictable, social, and competitive.“</a:t>
            </a:r>
          </a:p>
          <a:p>
            <a:pPr>
              <a:buNone/>
            </a:pPr>
            <a:endParaRPr lang="en-GB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GB" b="1" dirty="0">
                <a:solidFill>
                  <a:schemeClr val="bg1"/>
                </a:solidFill>
              </a:rPr>
              <a:t>4. Call to Action / Vision: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"Join the community and see if your drawings can beat the rest—where creativity meets competition in real time."</a:t>
            </a:r>
          </a:p>
        </p:txBody>
      </p:sp>
    </p:spTree>
    <p:extLst>
      <p:ext uri="{BB962C8B-B14F-4D97-AF65-F5344CB8AC3E}">
        <p14:creationId xmlns:p14="http://schemas.microsoft.com/office/powerpoint/2010/main" val="3301395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917F-0AC1-011C-9CFF-5BB19941F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233" y="33848"/>
            <a:ext cx="6642414" cy="1271106"/>
          </a:xfrm>
        </p:spPr>
        <p:txBody>
          <a:bodyPr anchor="b">
            <a:normAutofit/>
          </a:bodyPr>
          <a:lstStyle/>
          <a:p>
            <a:r>
              <a:rPr lang="en-GB" dirty="0"/>
              <a:t>Design a product box</a:t>
            </a:r>
            <a:endParaRPr lang="en-I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2E4A978-32E9-20FC-F965-5379A5CCA2E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1911" y="1523020"/>
            <a:ext cx="6637630" cy="5127526"/>
          </a:xfrm>
        </p:spPr>
        <p:txBody>
          <a:bodyPr vert="horz" lIns="0" tIns="0" rIns="0" bIns="0" rtlCol="0" anchor="t">
            <a:normAutofit fontScale="92500" lnSpcReduction="10000"/>
          </a:bodyPr>
          <a:lstStyle/>
          <a:p>
            <a:pPr algn="l"/>
            <a:r>
              <a:rPr lang="en-US" dirty="0" err="1">
                <a:ea typeface="+mn-lt"/>
                <a:cs typeface="+mn-lt"/>
              </a:rPr>
              <a:t>QuarckSketch</a:t>
            </a:r>
            <a:endParaRPr lang="en-US" dirty="0">
              <a:ea typeface="+mn-lt"/>
              <a:cs typeface="+mn-lt"/>
            </a:endParaRPr>
          </a:p>
          <a:p>
            <a:pPr algn="l"/>
            <a:endParaRPr lang="en-US" dirty="0">
              <a:ea typeface="+mn-lt"/>
              <a:cs typeface="+mn-lt"/>
            </a:endParaRPr>
          </a:p>
          <a:p>
            <a:pPr algn="l"/>
            <a:r>
              <a:rPr lang="en-US">
                <a:ea typeface="+mn-lt"/>
                <a:cs typeface="+mn-lt"/>
              </a:rPr>
              <a:t>Draw it. Guess it. Watch it go wrong.</a:t>
            </a:r>
            <a:endParaRPr lang="en-US"/>
          </a:p>
          <a:p>
            <a:pPr algn="l"/>
            <a:endParaRPr lang="en-US" dirty="0"/>
          </a:p>
          <a:p>
            <a:pPr algn="l"/>
            <a:r>
              <a:rPr lang="en-US">
                <a:ea typeface="+mn-lt"/>
                <a:cs typeface="+mn-lt"/>
              </a:rPr>
              <a:t>TOP 3 REASONS YOU’LL LOVE IT</a:t>
            </a:r>
          </a:p>
          <a:p>
            <a:pPr marL="285750" indent="-285750" algn="l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Instant Fun With Friends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Jump in and start playing immediately — no complicated setup.</a:t>
            </a:r>
          </a:p>
          <a:p>
            <a:pPr marL="285750" indent="-285750" algn="l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Creativity Without Pressure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You don’t need to be an artist. The worse the drawing, the funnier it gets.</a:t>
            </a:r>
          </a:p>
          <a:p>
            <a:pPr marL="285750" indent="-285750" algn="l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Perfect for Any Group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Great for parties, classrooms, team-building, or online hangouts.</a:t>
            </a:r>
          </a:p>
          <a:p>
            <a:pPr algn="l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6BF9A6-B81A-75FC-68E1-8B5ABF30E24B}"/>
              </a:ext>
            </a:extLst>
          </p:cNvPr>
          <p:cNvSpPr/>
          <p:nvPr/>
        </p:nvSpPr>
        <p:spPr>
          <a:xfrm>
            <a:off x="1157384" y="1747672"/>
            <a:ext cx="3959524" cy="4054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54AD4AB-2801-AE2E-1C49-AF0B6A94A93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9" name="Picture Placeholder 4" descr="Quarkstack ">
            <a:extLst>
              <a:ext uri="{FF2B5EF4-FFF2-40B4-BE49-F238E27FC236}">
                <a16:creationId xmlns:a16="http://schemas.microsoft.com/office/drawing/2014/main" id="{DE6AE067-93DA-E20F-FC4D-F06C57680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" r="11726"/>
          <a:stretch>
            <a:fillRect/>
          </a:stretch>
        </p:blipFill>
        <p:spPr bwMode="auto">
          <a:xfrm>
            <a:off x="1506026" y="2137024"/>
            <a:ext cx="3251837" cy="325183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217453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20383-FFE0-9CFC-8AD8-FE36B877E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anchor="b">
            <a:normAutofit/>
          </a:bodyPr>
          <a:lstStyle/>
          <a:p>
            <a:r>
              <a:rPr lang="ga-IE" dirty="0"/>
              <a:t>IN </a:t>
            </a:r>
            <a:r>
              <a:rPr lang="ga-IE" dirty="0" err="1"/>
              <a:t>scope</a:t>
            </a:r>
            <a:r>
              <a:rPr lang="ga-IE" dirty="0"/>
              <a:t>/</a:t>
            </a:r>
            <a:r>
              <a:rPr lang="ga-IE" dirty="0" err="1"/>
              <a:t>not</a:t>
            </a:r>
            <a:r>
              <a:rPr lang="ga-IE" dirty="0"/>
              <a:t> </a:t>
            </a:r>
            <a:r>
              <a:rPr lang="ga-IE" dirty="0" err="1"/>
              <a:t>list</a:t>
            </a:r>
            <a:endParaRPr lang="en-IE" dirty="0"/>
          </a:p>
        </p:txBody>
      </p:sp>
      <p:pic>
        <p:nvPicPr>
          <p:cNvPr id="3074" name="Picture 2" descr="An Incomplete List of Why Scope Creep Happens (and How Project Management  Can Help) - PMStudent">
            <a:extLst>
              <a:ext uri="{FF2B5EF4-FFF2-40B4-BE49-F238E27FC236}">
                <a16:creationId xmlns:a16="http://schemas.microsoft.com/office/drawing/2014/main" id="{6D5180CE-C83A-8EAE-1F42-84B293088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80160" y="2500067"/>
            <a:ext cx="4846320" cy="369531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ACAE9-495A-F079-D512-38A23B4CBD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3402" y="2327441"/>
            <a:ext cx="4846320" cy="4040574"/>
          </a:xfrm>
        </p:spPr>
        <p:txBody>
          <a:bodyPr>
            <a:normAutofit/>
          </a:bodyPr>
          <a:lstStyle/>
          <a:p>
            <a:r>
              <a:rPr lang="en-GB" sz="2000" b="1" dirty="0">
                <a:solidFill>
                  <a:schemeClr val="accent4"/>
                </a:solidFill>
              </a:rPr>
              <a:t>In Scope:</a:t>
            </a:r>
            <a:endParaRPr lang="en-GB" sz="2000" dirty="0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Development of Android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Responsive and readable UI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Implementation of core app features (drawing tools, game settings)</a:t>
            </a:r>
          </a:p>
          <a:p>
            <a:r>
              <a:rPr lang="en-GB" dirty="0"/>
              <a:t>Frequent testing and bug fixing</a:t>
            </a:r>
          </a:p>
          <a:p>
            <a:r>
              <a:rPr lang="en-GB" sz="2000" b="1" dirty="0">
                <a:solidFill>
                  <a:schemeClr val="accent1"/>
                </a:solidFill>
              </a:rPr>
              <a:t>Out of Scope:</a:t>
            </a:r>
            <a:endParaRPr lang="en-GB" sz="20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Development of new features after launch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Marketing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Standalone PC client application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742387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092EC03-B44D-CFF9-AD72-87BDCCBC1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640080"/>
            <a:ext cx="4815836" cy="2103120"/>
          </a:xfrm>
        </p:spPr>
        <p:txBody>
          <a:bodyPr anchor="ctr">
            <a:normAutofit/>
          </a:bodyPr>
          <a:lstStyle/>
          <a:p>
            <a:r>
              <a:rPr lang="ga-IE" dirty="0" err="1"/>
              <a:t>Meet</a:t>
            </a:r>
            <a:r>
              <a:rPr lang="ga-IE" dirty="0"/>
              <a:t> </a:t>
            </a:r>
            <a:r>
              <a:rPr lang="ga-IE" dirty="0" err="1"/>
              <a:t>the</a:t>
            </a:r>
            <a:r>
              <a:rPr lang="ga-IE" dirty="0"/>
              <a:t> neighbours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AC4410C-E3FE-9AA5-46D0-15E8950D9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7" y="640080"/>
            <a:ext cx="5122889" cy="2103120"/>
          </a:xfrm>
        </p:spPr>
        <p:txBody>
          <a:bodyPr anchor="ctr">
            <a:normAutofit/>
          </a:bodyPr>
          <a:lstStyle/>
          <a:p>
            <a:r>
              <a:rPr lang="en-IE" dirty="0"/>
              <a:t>Marko </a:t>
            </a:r>
            <a:r>
              <a:rPr lang="en-IE" dirty="0" err="1"/>
              <a:t>Radojcic</a:t>
            </a:r>
            <a:r>
              <a:rPr lang="en-IE" dirty="0"/>
              <a:t> – </a:t>
            </a:r>
            <a:r>
              <a:rPr lang="en-IE" b="1" dirty="0">
                <a:solidFill>
                  <a:schemeClr val="accent4"/>
                </a:solidFill>
              </a:rPr>
              <a:t>QA Tester</a:t>
            </a:r>
          </a:p>
          <a:p>
            <a:r>
              <a:rPr lang="en-IE" dirty="0"/>
              <a:t>Niall Concannon – </a:t>
            </a:r>
            <a:r>
              <a:rPr lang="en-IE" b="1" dirty="0">
                <a:solidFill>
                  <a:schemeClr val="accent5"/>
                </a:solidFill>
              </a:rPr>
              <a:t>Project Owner</a:t>
            </a:r>
          </a:p>
          <a:p>
            <a:r>
              <a:rPr lang="en-IE" dirty="0"/>
              <a:t>Daniel Balcerzak – </a:t>
            </a:r>
            <a:r>
              <a:rPr lang="en-IE" b="1" dirty="0">
                <a:solidFill>
                  <a:schemeClr val="accent1"/>
                </a:solidFill>
              </a:rPr>
              <a:t>Scrum Master</a:t>
            </a:r>
          </a:p>
          <a:p>
            <a:r>
              <a:rPr lang="en-IE" dirty="0"/>
              <a:t>Kamil </a:t>
            </a:r>
            <a:r>
              <a:rPr lang="en-IE" dirty="0" err="1"/>
              <a:t>Ciemniejewski</a:t>
            </a:r>
            <a:r>
              <a:rPr lang="en-IE" dirty="0"/>
              <a:t> – </a:t>
            </a:r>
            <a:r>
              <a:rPr lang="en-IE" b="1" dirty="0">
                <a:solidFill>
                  <a:schemeClr val="accent2"/>
                </a:solidFill>
              </a:rPr>
              <a:t>Dev Ops</a:t>
            </a:r>
          </a:p>
          <a:p>
            <a:r>
              <a:rPr lang="en-IE" dirty="0"/>
              <a:t>External Stakeholders – </a:t>
            </a:r>
            <a:r>
              <a:rPr lang="en-IE">
                <a:solidFill>
                  <a:schemeClr val="accent3"/>
                </a:solidFill>
              </a:rPr>
              <a:t>Users</a:t>
            </a:r>
            <a:endParaRPr lang="en-IE" dirty="0">
              <a:solidFill>
                <a:schemeClr val="accent3"/>
              </a:solidFill>
            </a:endParaRPr>
          </a:p>
          <a:p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AF7E974-C0CC-9B78-F310-F289C117936A}"/>
              </a:ext>
            </a:extLst>
          </p:cNvPr>
          <p:cNvSpPr/>
          <p:nvPr/>
        </p:nvSpPr>
        <p:spPr>
          <a:xfrm>
            <a:off x="983411" y="3009055"/>
            <a:ext cx="10374152" cy="32088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A657B2-61E4-EE5D-7CC3-83E908D66ED8}"/>
              </a:ext>
            </a:extLst>
          </p:cNvPr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AD637EF-71EA-82D5-CC7D-10FDB0BFB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02" r="-1" b="20419"/>
          <a:stretch>
            <a:fillRect/>
          </a:stretch>
        </p:blipFill>
        <p:spPr bwMode="auto">
          <a:xfrm>
            <a:off x="1523700" y="3161547"/>
            <a:ext cx="9388140" cy="29038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13310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8DD6B29-178E-DD15-02DC-B8FBBBCB8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581" y="614202"/>
            <a:ext cx="7157790" cy="757398"/>
          </a:xfrm>
        </p:spPr>
        <p:txBody>
          <a:bodyPr/>
          <a:lstStyle/>
          <a:p>
            <a:pPr algn="l"/>
            <a:r>
              <a:rPr lang="ga-IE" dirty="0" err="1"/>
              <a:t>Architecture</a:t>
            </a:r>
            <a:r>
              <a:rPr lang="en-IE" dirty="0"/>
              <a:t> </a:t>
            </a:r>
            <a:r>
              <a:rPr lang="ga-IE" dirty="0" err="1"/>
              <a:t>overview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E06ADE3-B222-DE8B-0445-ABE4DC26D3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2530058"/>
            <a:ext cx="3707972" cy="3707971"/>
          </a:xfrm>
        </p:spPr>
        <p:txBody>
          <a:bodyPr/>
          <a:lstStyle/>
          <a:p>
            <a:endParaRPr lang="en-I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2D2DC0-FFA0-3193-F182-C5313B4CAD5C}"/>
              </a:ext>
            </a:extLst>
          </p:cNvPr>
          <p:cNvSpPr txBox="1"/>
          <p:nvPr/>
        </p:nvSpPr>
        <p:spPr>
          <a:xfrm>
            <a:off x="5367809" y="1528913"/>
            <a:ext cx="6103854" cy="53256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E" b="1">
                <a:solidFill>
                  <a:schemeClr val="bg1"/>
                </a:solidFill>
                <a:ea typeface="+mn-lt"/>
                <a:cs typeface="+mn-lt"/>
              </a:rPr>
              <a:t>Frontend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IE">
                <a:solidFill>
                  <a:schemeClr val="bg1"/>
                </a:solidFill>
                <a:ea typeface="+mn-lt"/>
                <a:cs typeface="+mn-lt"/>
              </a:rPr>
              <a:t>Built with Angular (TypeScript)</a:t>
            </a:r>
          </a:p>
          <a:p>
            <a:pPr marL="285750" indent="-285750">
              <a:buFont typeface="Arial"/>
              <a:buChar char="•"/>
            </a:pPr>
            <a:r>
              <a:rPr lang="en-IE">
                <a:solidFill>
                  <a:schemeClr val="bg1"/>
                </a:solidFill>
                <a:ea typeface="+mn-lt"/>
                <a:cs typeface="+mn-lt"/>
              </a:rPr>
              <a:t>Provides the drawing canvas and guessing interface</a:t>
            </a:r>
            <a:endParaRPr lang="en-IE"/>
          </a:p>
          <a:p>
            <a:pPr marL="285750" indent="-285750">
              <a:buFont typeface="Arial"/>
              <a:buChar char="•"/>
            </a:pPr>
            <a:r>
              <a:rPr lang="en-IE">
                <a:solidFill>
                  <a:schemeClr val="bg1"/>
                </a:solidFill>
                <a:ea typeface="+mn-lt"/>
                <a:cs typeface="+mn-lt"/>
              </a:rPr>
              <a:t>Sends and receives data from the backend using HTTP requests</a:t>
            </a:r>
            <a:endParaRPr lang="en-IE"/>
          </a:p>
          <a:p>
            <a:r>
              <a:rPr lang="en-IE" b="1">
                <a:solidFill>
                  <a:schemeClr val="bg1"/>
                </a:solidFill>
                <a:ea typeface="+mn-lt"/>
                <a:cs typeface="+mn-lt"/>
              </a:rPr>
              <a:t>Backend</a:t>
            </a:r>
            <a:endParaRPr lang="en-IE"/>
          </a:p>
          <a:p>
            <a:pPr marL="285750" indent="-285750">
              <a:buFont typeface="Arial"/>
              <a:buChar char="•"/>
            </a:pPr>
            <a:r>
              <a:rPr lang="en-IE">
                <a:solidFill>
                  <a:schemeClr val="bg1"/>
                </a:solidFill>
                <a:ea typeface="+mn-lt"/>
                <a:cs typeface="+mn-lt"/>
              </a:rPr>
              <a:t>Built with Node.js and TypeScript</a:t>
            </a:r>
            <a:endParaRPr lang="en-IE"/>
          </a:p>
          <a:p>
            <a:pPr marL="285750" indent="-285750">
              <a:buFont typeface="Arial"/>
              <a:buChar char="•"/>
            </a:pPr>
            <a:r>
              <a:rPr lang="en-IE">
                <a:solidFill>
                  <a:schemeClr val="bg1"/>
                </a:solidFill>
                <a:ea typeface="+mn-lt"/>
                <a:cs typeface="+mn-lt"/>
              </a:rPr>
              <a:t>Handles game logic (rounds, prompts, scoring)</a:t>
            </a:r>
            <a:endParaRPr lang="en-IE"/>
          </a:p>
          <a:p>
            <a:pPr marL="285750" indent="-285750">
              <a:buFont typeface="Arial"/>
              <a:buChar char="•"/>
            </a:pPr>
            <a:r>
              <a:rPr lang="en-IE">
                <a:solidFill>
                  <a:schemeClr val="bg1"/>
                </a:solidFill>
                <a:ea typeface="+mn-lt"/>
                <a:cs typeface="+mn-lt"/>
              </a:rPr>
              <a:t>Manages players and game sessions</a:t>
            </a:r>
            <a:endParaRPr lang="en-IE"/>
          </a:p>
          <a:p>
            <a:pPr marL="285750" indent="-285750">
              <a:buFont typeface="Arial"/>
              <a:buChar char="•"/>
            </a:pPr>
            <a:r>
              <a:rPr lang="en-IE">
                <a:solidFill>
                  <a:schemeClr val="bg1"/>
                </a:solidFill>
                <a:ea typeface="+mn-lt"/>
                <a:cs typeface="+mn-lt"/>
              </a:rPr>
              <a:t>Communicates with the database</a:t>
            </a:r>
            <a:endParaRPr lang="en-IE"/>
          </a:p>
          <a:p>
            <a:r>
              <a:rPr lang="en-IE" b="1">
                <a:solidFill>
                  <a:schemeClr val="bg1"/>
                </a:solidFill>
                <a:ea typeface="+mn-lt"/>
                <a:cs typeface="+mn-lt"/>
              </a:rPr>
              <a:t>Database</a:t>
            </a:r>
            <a:endParaRPr lang="en-IE"/>
          </a:p>
          <a:p>
            <a:pPr marL="285750" indent="-285750">
              <a:buFont typeface="Arial"/>
              <a:buChar char="•"/>
            </a:pPr>
            <a:r>
              <a:rPr lang="en-IE">
                <a:solidFill>
                  <a:schemeClr val="bg1"/>
                </a:solidFill>
                <a:ea typeface="+mn-lt"/>
                <a:cs typeface="+mn-lt"/>
              </a:rPr>
              <a:t>MySQL database</a:t>
            </a:r>
            <a:endParaRPr lang="en-IE"/>
          </a:p>
          <a:p>
            <a:pPr marL="285750" indent="-285750">
              <a:buFont typeface="Arial"/>
              <a:buChar char="•"/>
            </a:pPr>
            <a:r>
              <a:rPr lang="en-IE">
                <a:solidFill>
                  <a:schemeClr val="bg1"/>
                </a:solidFill>
                <a:ea typeface="+mn-lt"/>
                <a:cs typeface="+mn-lt"/>
              </a:rPr>
              <a:t>Stores:</a:t>
            </a:r>
          </a:p>
          <a:p>
            <a:pPr marL="742950" lvl="1" indent="-285750">
              <a:buFont typeface="Arial"/>
              <a:buChar char="•"/>
            </a:pPr>
            <a:r>
              <a:rPr lang="en-IE">
                <a:solidFill>
                  <a:schemeClr val="bg1"/>
                </a:solidFill>
                <a:ea typeface="+mn-lt"/>
                <a:cs typeface="+mn-lt"/>
              </a:rPr>
              <a:t>Users</a:t>
            </a:r>
            <a:endParaRPr lang="en-IE"/>
          </a:p>
          <a:p>
            <a:pPr marL="742950" lvl="1" indent="-285750">
              <a:buFont typeface="Arial"/>
              <a:buChar char="•"/>
            </a:pPr>
            <a:r>
              <a:rPr lang="en-IE">
                <a:solidFill>
                  <a:schemeClr val="bg1"/>
                </a:solidFill>
                <a:ea typeface="+mn-lt"/>
                <a:cs typeface="+mn-lt"/>
              </a:rPr>
              <a:t>Game rooms</a:t>
            </a:r>
            <a:endParaRPr lang="en-IE"/>
          </a:p>
          <a:p>
            <a:pPr marL="742950" lvl="1" indent="-285750">
              <a:buFont typeface="Arial"/>
              <a:buChar char="•"/>
            </a:pPr>
            <a:r>
              <a:rPr lang="en-IE">
                <a:solidFill>
                  <a:schemeClr val="bg1"/>
                </a:solidFill>
                <a:ea typeface="+mn-lt"/>
                <a:cs typeface="+mn-lt"/>
              </a:rPr>
              <a:t>Prompts</a:t>
            </a:r>
            <a:endParaRPr lang="en-IE"/>
          </a:p>
          <a:p>
            <a:pPr marL="742950" lvl="1" indent="-285750">
              <a:buFont typeface="Arial"/>
              <a:buChar char="•"/>
            </a:pPr>
            <a:r>
              <a:rPr lang="en-IE">
                <a:solidFill>
                  <a:schemeClr val="bg1"/>
                </a:solidFill>
                <a:ea typeface="+mn-lt"/>
                <a:cs typeface="+mn-lt"/>
              </a:rPr>
              <a:t>Scores</a:t>
            </a:r>
            <a:endParaRPr lang="en-IE"/>
          </a:p>
          <a:p>
            <a:pPr marL="742950" lvl="1" indent="-285750">
              <a:buFont typeface="Arial"/>
              <a:buChar char="•"/>
            </a:pPr>
            <a:r>
              <a:rPr lang="en-IE">
                <a:solidFill>
                  <a:schemeClr val="bg1"/>
                </a:solidFill>
                <a:ea typeface="+mn-lt"/>
                <a:cs typeface="+mn-lt"/>
              </a:rPr>
              <a:t>Game history</a:t>
            </a:r>
            <a:endParaRPr lang="en-IE"/>
          </a:p>
          <a:p>
            <a:endParaRPr lang="en-IE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4AB897-5F00-2CBC-35AE-87D4B1C289A6}"/>
              </a:ext>
            </a:extLst>
          </p:cNvPr>
          <p:cNvSpPr/>
          <p:nvPr/>
        </p:nvSpPr>
        <p:spPr>
          <a:xfrm>
            <a:off x="1181819" y="502848"/>
            <a:ext cx="2863970" cy="58548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4" name="Picture 2" descr="QS &#10;S ">
            <a:extLst>
              <a:ext uri="{FF2B5EF4-FFF2-40B4-BE49-F238E27FC236}">
                <a16:creationId xmlns:a16="http://schemas.microsoft.com/office/drawing/2014/main" id="{AAA242FC-D957-B80E-ADAD-9E7BF9E70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220" y="666750"/>
            <a:ext cx="2357168" cy="55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8742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69060-6798-B578-45A9-02BF146C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544" y="614202"/>
            <a:ext cx="5918072" cy="1128334"/>
          </a:xfrm>
        </p:spPr>
        <p:txBody>
          <a:bodyPr/>
          <a:lstStyle/>
          <a:p>
            <a:r>
              <a:rPr lang="ga-IE" dirty="0" err="1"/>
              <a:t>What</a:t>
            </a:r>
            <a:r>
              <a:rPr lang="ga-IE" dirty="0"/>
              <a:t> </a:t>
            </a:r>
            <a:r>
              <a:rPr lang="ga-IE" dirty="0" err="1"/>
              <a:t>keeps</a:t>
            </a:r>
            <a:r>
              <a:rPr lang="ga-IE" dirty="0"/>
              <a:t> </a:t>
            </a:r>
            <a:r>
              <a:rPr lang="ga-IE" dirty="0" err="1"/>
              <a:t>us</a:t>
            </a:r>
            <a:r>
              <a:rPr lang="ga-IE" dirty="0"/>
              <a:t> </a:t>
            </a:r>
            <a:r>
              <a:rPr lang="ga-IE" dirty="0" err="1"/>
              <a:t>up</a:t>
            </a:r>
            <a:r>
              <a:rPr lang="ga-IE" dirty="0"/>
              <a:t> at </a:t>
            </a:r>
            <a:r>
              <a:rPr lang="ga-IE" dirty="0" err="1"/>
              <a:t>night</a:t>
            </a:r>
            <a:r>
              <a:rPr lang="ga-IE" dirty="0"/>
              <a:t>?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17BC3-3C9D-39AF-DE27-8CBC302DA0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34974" y="2530058"/>
            <a:ext cx="5392940" cy="3517059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Key Project Risks</a:t>
            </a:r>
          </a:p>
          <a:p>
            <a:pPr algn="l"/>
            <a:r>
              <a:rPr lang="en-GB" dirty="0"/>
              <a:t>Scope creep: too many features, tight deadlines</a:t>
            </a:r>
          </a:p>
          <a:p>
            <a:pPr algn="l"/>
            <a:r>
              <a:rPr lang="en-GB" dirty="0"/>
              <a:t>Drawing canvas: bugs or performance issues</a:t>
            </a:r>
          </a:p>
          <a:p>
            <a:pPr algn="l"/>
            <a:r>
              <a:rPr lang="en-GB" dirty="0"/>
              <a:t>Team workload: uneven distribution</a:t>
            </a:r>
          </a:p>
          <a:p>
            <a:pPr algn="l"/>
            <a:r>
              <a:rPr lang="en-GB" dirty="0"/>
              <a:t>Time estimation: underestimating feature implementation</a:t>
            </a:r>
          </a:p>
          <a:p>
            <a:pPr algn="l"/>
            <a:endParaRPr lang="en-IE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115A65D-5B1B-7593-65CA-3B8B0EB5AD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2530058"/>
            <a:ext cx="3015796" cy="3707971"/>
          </a:xfrm>
        </p:spPr>
        <p:txBody>
          <a:bodyPr/>
          <a:lstStyle/>
          <a:p>
            <a:endParaRPr lang="en-IE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DF912B-26B3-96FD-D456-2DA26B79AD5D}"/>
              </a:ext>
            </a:extLst>
          </p:cNvPr>
          <p:cNvSpPr/>
          <p:nvPr/>
        </p:nvSpPr>
        <p:spPr>
          <a:xfrm>
            <a:off x="885825" y="1666875"/>
            <a:ext cx="4755850" cy="48291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5126" name="Picture 6" descr="10 Common Types of Risks in Project Management and How to Prevent Them -  Dee Project Manager">
            <a:extLst>
              <a:ext uri="{FF2B5EF4-FFF2-40B4-BE49-F238E27FC236}">
                <a16:creationId xmlns:a16="http://schemas.microsoft.com/office/drawing/2014/main" id="{800D54D5-249D-F3CE-37E2-10474E596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0" y="2132112"/>
            <a:ext cx="3975264" cy="377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947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F087-FA32-7E23-91AE-5A646670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anchor="b">
            <a:normAutofit/>
          </a:bodyPr>
          <a:lstStyle/>
          <a:p>
            <a:r>
              <a:rPr lang="ga-IE" dirty="0" err="1"/>
              <a:t>Size</a:t>
            </a:r>
            <a:r>
              <a:rPr lang="ga-IE" dirty="0"/>
              <a:t> </a:t>
            </a:r>
            <a:r>
              <a:rPr lang="ga-IE" dirty="0" err="1"/>
              <a:t>it</a:t>
            </a:r>
            <a:r>
              <a:rPr lang="ga-IE" dirty="0"/>
              <a:t> </a:t>
            </a:r>
            <a:r>
              <a:rPr lang="ga-IE" dirty="0" err="1"/>
              <a:t>up</a:t>
            </a:r>
            <a:r>
              <a:rPr lang="en-IE" dirty="0"/>
              <a:t>!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F7F1C09-0264-A616-1FD5-95B2C560603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80160" y="2327440"/>
            <a:ext cx="4846320" cy="4040574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IE" b="1" dirty="0"/>
              <a:t>Project Timeline &amp; Approach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</a:rPr>
              <a:t>Estimated Duration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~8 weeks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</a:rPr>
              <a:t>Core functionality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delivered first to establish a stable foundation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Additional features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developed in short, iterative Scrum sprints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Ongoing testing and improvements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throughout development</a:t>
            </a:r>
          </a:p>
        </p:txBody>
      </p:sp>
      <p:pic>
        <p:nvPicPr>
          <p:cNvPr id="7175" name="Picture 7" descr="Game Thinking Masterclass - Amy Jo Kim - Nadia Benedetti">
            <a:extLst>
              <a:ext uri="{FF2B5EF4-FFF2-40B4-BE49-F238E27FC236}">
                <a16:creationId xmlns:a16="http://schemas.microsoft.com/office/drawing/2014/main" id="{780224EB-5EF0-BC44-F9B6-3B99E053ED58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6" r="3390" b="3"/>
          <a:stretch>
            <a:fillRect/>
          </a:stretch>
        </p:blipFill>
        <p:spPr bwMode="auto">
          <a:xfrm>
            <a:off x="6232083" y="1499635"/>
            <a:ext cx="5604339" cy="467256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157510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8B3B2-1A3A-AB76-F121-F78D8FD02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9174" y="-174498"/>
            <a:ext cx="4838161" cy="2236211"/>
          </a:xfr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US" b="1" i="0" kern="1200" cap="all" spc="0" baseline="0" dirty="0">
                <a:latin typeface="+mj-lt"/>
                <a:ea typeface="+mj-ea"/>
                <a:cs typeface="+mj-cs"/>
              </a:rPr>
              <a:t>Potential Scope Adjustments</a:t>
            </a:r>
            <a:br>
              <a:rPr lang="en-US" b="1" i="0" kern="1200" cap="all" spc="0" baseline="0" dirty="0">
                <a:latin typeface="+mj-lt"/>
                <a:ea typeface="+mj-ea"/>
                <a:cs typeface="+mj-cs"/>
              </a:rPr>
            </a:br>
            <a:endParaRPr lang="en-US" b="1" i="0" kern="1200" cap="all" spc="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8A8736-FECD-BA6A-A487-3F55353E659D}"/>
              </a:ext>
            </a:extLst>
          </p:cNvPr>
          <p:cNvSpPr txBox="1"/>
          <p:nvPr/>
        </p:nvSpPr>
        <p:spPr>
          <a:xfrm>
            <a:off x="1019174" y="1428751"/>
            <a:ext cx="5076825" cy="5136642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To ensure smooth multiplayer gameplay and reliable AI grading, some non-essential features may be limited: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</a:pPr>
            <a:endParaRPr lang="en-US" dirty="0"/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Extra drawing tools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may be removed to improve performance and reduce lag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</a:pPr>
            <a:endParaRPr lang="en-US" dirty="0"/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/>
                </a:solidFill>
              </a:rPr>
              <a:t>User accounts or score history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/>
              <a:t>may be simplified to speed development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</a:pPr>
            <a:endParaRPr lang="en-US" dirty="0"/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UI elements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/>
              <a:t>may be streamlined for clarity during fast-paced rounds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</a:pPr>
            <a:endParaRPr lang="en-US" dirty="0"/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Core focus</a:t>
            </a:r>
            <a:r>
              <a:rPr lang="en-US" dirty="0"/>
              <a:t> Maintain a stable drawing canvas, AI-powered grading, prompts, timer, and voting system</a:t>
            </a:r>
          </a:p>
        </p:txBody>
      </p:sp>
      <p:pic>
        <p:nvPicPr>
          <p:cNvPr id="8194" name="Picture 2" descr="Scope creep Memes · ProgrammerHumor.io">
            <a:extLst>
              <a:ext uri="{FF2B5EF4-FFF2-40B4-BE49-F238E27FC236}">
                <a16:creationId xmlns:a16="http://schemas.microsoft.com/office/drawing/2014/main" id="{AB344A3F-BE77-4171-83EA-E973B677F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" r="15675" b="-1"/>
          <a:stretch>
            <a:fillRect/>
          </a:stretch>
        </p:blipFill>
        <p:spPr bwMode="auto">
          <a:xfrm>
            <a:off x="6695553" y="301752"/>
            <a:ext cx="5221224" cy="626364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965638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FFE50-5C77-4CBE-23AA-0850C42DD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494" y="-109627"/>
            <a:ext cx="9137012" cy="1280160"/>
          </a:xfrm>
        </p:spPr>
        <p:txBody>
          <a:bodyPr anchor="b">
            <a:normAutofit/>
          </a:bodyPr>
          <a:lstStyle/>
          <a:p>
            <a:r>
              <a:rPr lang="ga-IE" dirty="0" err="1"/>
              <a:t>Whats</a:t>
            </a:r>
            <a:r>
              <a:rPr lang="ga-IE" dirty="0"/>
              <a:t> </a:t>
            </a:r>
            <a:r>
              <a:rPr lang="ga-IE" dirty="0" err="1"/>
              <a:t>it</a:t>
            </a:r>
            <a:r>
              <a:rPr lang="ga-IE" dirty="0"/>
              <a:t> </a:t>
            </a:r>
            <a:r>
              <a:rPr lang="ga-IE" dirty="0" err="1"/>
              <a:t>going</a:t>
            </a:r>
            <a:r>
              <a:rPr lang="ga-IE" dirty="0"/>
              <a:t> </a:t>
            </a:r>
            <a:r>
              <a:rPr lang="ga-IE" dirty="0" err="1"/>
              <a:t>to</a:t>
            </a:r>
            <a:r>
              <a:rPr lang="ga-IE" dirty="0"/>
              <a:t> </a:t>
            </a:r>
            <a:r>
              <a:rPr lang="ga-IE" dirty="0" err="1"/>
              <a:t>take</a:t>
            </a:r>
            <a:r>
              <a:rPr lang="ga-IE" dirty="0"/>
              <a:t>?</a:t>
            </a:r>
            <a:endParaRPr lang="en-IE" dirty="0"/>
          </a:p>
        </p:txBody>
      </p:sp>
      <p:pic>
        <p:nvPicPr>
          <p:cNvPr id="5" name="Picture 4" descr="A diagram of a project&#10;&#10;AI-generated content may be incorrect.">
            <a:extLst>
              <a:ext uri="{FF2B5EF4-FFF2-40B4-BE49-F238E27FC236}">
                <a16:creationId xmlns:a16="http://schemas.microsoft.com/office/drawing/2014/main" id="{4FD8BD0F-60D0-7ED8-BC6C-0CDB0E7FC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346" y="4147652"/>
            <a:ext cx="10567376" cy="2500798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3B0B3-83EF-DBD4-45CF-977BFB00A9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5258" y="1674674"/>
            <a:ext cx="3819821" cy="153981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5"/>
                </a:solidFill>
              </a:rPr>
              <a:t>Time</a:t>
            </a:r>
            <a:endParaRPr lang="en-US" sz="7200" dirty="0">
              <a:solidFill>
                <a:schemeClr val="accent5"/>
              </a:solidFill>
            </a:endParaRPr>
          </a:p>
          <a:p>
            <a:r>
              <a:rPr lang="en-US" sz="7200" dirty="0"/>
              <a:t>12/02: Idea chosen</a:t>
            </a:r>
          </a:p>
          <a:p>
            <a:r>
              <a:rPr lang="en-US" sz="7200" dirty="0"/>
              <a:t>19/02: Requirements ready</a:t>
            </a:r>
          </a:p>
          <a:p>
            <a:r>
              <a:rPr lang="en-US" sz="7200" dirty="0"/>
              <a:t>26/02–05/03: Core drawing + UI</a:t>
            </a:r>
          </a:p>
          <a:p>
            <a:r>
              <a:rPr lang="en-US" sz="7200" dirty="0"/>
              <a:t>12/03–19/03: AI game + multiplayer</a:t>
            </a:r>
          </a:p>
          <a:p>
            <a:r>
              <a:rPr lang="en-US" sz="7200" dirty="0"/>
              <a:t>26/03–16/04: Integration &amp; testing</a:t>
            </a:r>
          </a:p>
          <a:p>
            <a:r>
              <a:rPr lang="en-US" sz="7200" dirty="0"/>
              <a:t>23/04: Present</a:t>
            </a:r>
            <a:endParaRPr lang="ga-IE" sz="7200" dirty="0"/>
          </a:p>
          <a:p>
            <a:endParaRPr lang="en-IE" sz="1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BA8FB5-0101-AAE3-274D-F47B0C0D5E14}"/>
              </a:ext>
            </a:extLst>
          </p:cNvPr>
          <p:cNvSpPr txBox="1"/>
          <p:nvPr/>
        </p:nvSpPr>
        <p:spPr>
          <a:xfrm>
            <a:off x="6096000" y="1674674"/>
            <a:ext cx="522760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Cost</a:t>
            </a:r>
            <a:endParaRPr lang="en-US" sz="1800" dirty="0">
              <a:solidFill>
                <a:schemeClr val="accent1"/>
              </a:solidFill>
            </a:endParaRPr>
          </a:p>
          <a:p>
            <a:r>
              <a:rPr lang="en-US" sz="1800" dirty="0"/>
              <a:t>Minimal (student project</a:t>
            </a:r>
            <a:r>
              <a:rPr lang="en-US" dirty="0"/>
              <a:t>: </a:t>
            </a:r>
            <a:r>
              <a:rPr lang="en-US" sz="1800" dirty="0"/>
              <a:t>dev time + free/open-source tools)</a:t>
            </a:r>
            <a:endParaRPr lang="en-US" dirty="0"/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Resources</a:t>
            </a:r>
            <a:endParaRPr lang="en-US" sz="1800" dirty="0">
              <a:solidFill>
                <a:schemeClr val="accent4"/>
              </a:solidFill>
            </a:endParaRPr>
          </a:p>
          <a:p>
            <a:r>
              <a:rPr lang="en-US" sz="1800" dirty="0"/>
              <a:t>4 people: frontend, backend, AI, UI/UX &amp; testing</a:t>
            </a:r>
          </a:p>
        </p:txBody>
      </p:sp>
    </p:spTree>
    <p:extLst>
      <p:ext uri="{BB962C8B-B14F-4D97-AF65-F5344CB8AC3E}">
        <p14:creationId xmlns:p14="http://schemas.microsoft.com/office/powerpoint/2010/main" val="47833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60A7C-95B5-C7D1-9711-152C1D779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5094" y="0"/>
            <a:ext cx="7983110" cy="3080335"/>
          </a:xfrm>
        </p:spPr>
        <p:txBody>
          <a:bodyPr/>
          <a:lstStyle/>
          <a:p>
            <a:r>
              <a:rPr lang="en-GB" dirty="0"/>
              <a:t>Thanks for listening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2348967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367561EDFC24408753B82B44F53323" ma:contentTypeVersion="3" ma:contentTypeDescription="Create a new document." ma:contentTypeScope="" ma:versionID="c62ff865f77488e6c91b13740a89e81b">
  <xsd:schema xmlns:xsd="http://www.w3.org/2001/XMLSchema" xmlns:xs="http://www.w3.org/2001/XMLSchema" xmlns:p="http://schemas.microsoft.com/office/2006/metadata/properties" xmlns:ns2="6e19e4a8-7018-4def-82ba-c3338f45d904" targetNamespace="http://schemas.microsoft.com/office/2006/metadata/properties" ma:root="true" ma:fieldsID="4190d918a25fbcdf3edbdeebefa19c5d" ns2:_="">
    <xsd:import namespace="6e19e4a8-7018-4def-82ba-c3338f45d9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19e4a8-7018-4def-82ba-c3338f45d9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openxmlformats.org/package/2006/metadata/core-properties"/>
    <ds:schemaRef ds:uri="http://purl.org/dc/terms/"/>
    <ds:schemaRef ds:uri="http://schemas.microsoft.com/office/2006/metadata/properties"/>
    <ds:schemaRef ds:uri="6e19e4a8-7018-4def-82ba-c3338f45d904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145CCB5-E43C-4887-8B0E-49F19D2055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19e4a8-7018-4def-82ba-c3338f45d9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{21FC4C54-A5FD-468A-A427-9A98A19F337D}372c19de-dfd4-4de7-9293-53c5fa2d1f7c-TF54b766f8-63ee-43b7-9d15-113a5f305028b8e3081f_win32</Template>
  <TotalTime>217</TotalTime>
  <Words>550</Words>
  <Application>Microsoft Office PowerPoint</Application>
  <PresentationFormat>Widescreen</PresentationFormat>
  <Paragraphs>94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GradientVTI</vt:lpstr>
      <vt:lpstr>QuarcksTACK OVERVIEW</vt:lpstr>
      <vt:lpstr>WHY ARE WE HERE</vt:lpstr>
      <vt:lpstr>Elevator pitch</vt:lpstr>
      <vt:lpstr>Design a product box</vt:lpstr>
      <vt:lpstr>IN scope/not list</vt:lpstr>
      <vt:lpstr>Meet the neighbours</vt:lpstr>
      <vt:lpstr>Architecture overview</vt:lpstr>
      <vt:lpstr>What keeps us up at night?</vt:lpstr>
      <vt:lpstr>Size it up!</vt:lpstr>
      <vt:lpstr>Potential Scope Adjustments </vt:lpstr>
      <vt:lpstr>Whats it going to take?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 RADOJCIC - STUDENT</dc:creator>
  <cp:lastModifiedBy>Daniel Balcerzak</cp:lastModifiedBy>
  <cp:revision>31</cp:revision>
  <dcterms:created xsi:type="dcterms:W3CDTF">2026-02-10T11:24:27Z</dcterms:created>
  <dcterms:modified xsi:type="dcterms:W3CDTF">2026-03-02T15:18:26Z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0x01010086367561EDFC24408753B82B44F53323</vt:lpwstr>
  </property>
</Properties>
</file>